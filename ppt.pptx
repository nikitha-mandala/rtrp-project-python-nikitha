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36"/>
  </p:notesMasterIdLst>
  <p:handoutMasterIdLst>
    <p:handoutMasterId r:id="rId37"/>
  </p:handoutMasterIdLst>
  <p:sldIdLst>
    <p:sldId id="316" r:id="rId5"/>
    <p:sldId id="256" r:id="rId6"/>
    <p:sldId id="257" r:id="rId7"/>
    <p:sldId id="258" r:id="rId8"/>
    <p:sldId id="259" r:id="rId9"/>
    <p:sldId id="322" r:id="rId10"/>
    <p:sldId id="336" r:id="rId11"/>
    <p:sldId id="318" r:id="rId12"/>
    <p:sldId id="341" r:id="rId13"/>
    <p:sldId id="319" r:id="rId14"/>
    <p:sldId id="261" r:id="rId15"/>
    <p:sldId id="262" r:id="rId16"/>
    <p:sldId id="263" r:id="rId17"/>
    <p:sldId id="320" r:id="rId18"/>
    <p:sldId id="323" r:id="rId19"/>
    <p:sldId id="325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8" r:id="rId29"/>
    <p:sldId id="339" r:id="rId30"/>
    <p:sldId id="340" r:id="rId31"/>
    <p:sldId id="264" r:id="rId32"/>
    <p:sldId id="265" r:id="rId33"/>
    <p:sldId id="337" r:id="rId34"/>
    <p:sldId id="321" r:id="rId3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6"/>
    <a:srgbClr val="202C8F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0980" autoAdjust="0"/>
  </p:normalViewPr>
  <p:slideViewPr>
    <p:cSldViewPr snapToGrid="0" snapToObjects="1">
      <p:cViewPr varScale="1">
        <p:scale>
          <a:sx n="75" d="100"/>
          <a:sy n="75" d="100"/>
        </p:scale>
        <p:origin x="1205" y="5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0187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9485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200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678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</p:sp>
    </p:spTree>
    <p:extLst>
      <p:ext uri="{BB962C8B-B14F-4D97-AF65-F5344CB8AC3E}">
        <p14:creationId xmlns:p14="http://schemas.microsoft.com/office/powerpoint/2010/main" val="204313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  <p:sldLayoutId id="2147483693" r:id="rId18"/>
    <p:sldLayoutId id="2147483695" r:id="rId19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" r="306"/>
          <a:stretch/>
        </p:blipFill>
        <p:spPr>
          <a:xfrm>
            <a:off x="1" y="0"/>
            <a:ext cx="12154830" cy="16358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2963947" y="1861516"/>
            <a:ext cx="5399048" cy="881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/>
              <a:t>            </a:t>
            </a:r>
            <a:r>
              <a:rPr dirty="0"/>
              <a:t>DEPARTMENT OF CSE</a:t>
            </a:r>
          </a:p>
          <a:p>
            <a:pPr algn="ctr">
              <a:lnSpc>
                <a:spcPct val="150000"/>
              </a:lnSpc>
            </a:pPr>
            <a:r>
              <a:rPr lang="en-IN" dirty="0"/>
              <a:t>          </a:t>
            </a:r>
            <a:r>
              <a:rPr dirty="0"/>
              <a:t>Real Time Research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8366" y="4360137"/>
            <a:ext cx="3995853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67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BY(Batch 14):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7974050" y="4360138"/>
            <a:ext cx="3232926" cy="2144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67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r>
              <a:rPr lang="en-IN" sz="1667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M.Madhusudhan</a:t>
            </a:r>
            <a:r>
              <a:rPr lang="en-IN" sz="16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(Assistant Professor)</a:t>
            </a:r>
          </a:p>
          <a:p>
            <a:endParaRPr lang="en-IN" sz="1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67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Ms.M.Srilekha</a:t>
            </a:r>
            <a:endParaRPr lang="en-IN" sz="1667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67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Dr.B</a:t>
            </a:r>
            <a:r>
              <a:rPr lang="en-IN" sz="16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67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Venkateshwarlu</a:t>
            </a:r>
            <a:r>
              <a:rPr lang="en-IN" sz="16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Naik</a:t>
            </a:r>
          </a:p>
          <a:p>
            <a:r>
              <a:rPr lang="en-IN" sz="1667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A.Divya</a:t>
            </a:r>
            <a:r>
              <a:rPr lang="en-IN" sz="1667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Bharati</a:t>
            </a:r>
          </a:p>
          <a:p>
            <a:r>
              <a:rPr lang="en-IN" sz="1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(Faculty coordinators)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557947"/>
              </p:ext>
            </p:extLst>
          </p:nvPr>
        </p:nvGraphicFramePr>
        <p:xfrm>
          <a:off x="678366" y="4692388"/>
          <a:ext cx="541763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426">
                  <a:extLst>
                    <a:ext uri="{9D8B030D-6E8A-4147-A177-3AD203B41FA5}">
                      <a16:colId xmlns:a16="http://schemas.microsoft.com/office/drawing/2014/main" val="2696844880"/>
                    </a:ext>
                  </a:extLst>
                </a:gridCol>
                <a:gridCol w="3055208">
                  <a:extLst>
                    <a:ext uri="{9D8B030D-6E8A-4147-A177-3AD203B41FA5}">
                      <a16:colId xmlns:a16="http://schemas.microsoft.com/office/drawing/2014/main" val="401151800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M.NIKITHA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(247R1A05BN)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90743191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P.ANJALI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(247R1A05BY)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75076543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P.SATHWIKA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(247R1A05CB)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03967125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endParaRPr lang="en-IN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25513399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AAE1579-D910-38DE-1F1A-FF897E1B2E6E}"/>
              </a:ext>
            </a:extLst>
          </p:cNvPr>
          <p:cNvSpPr txBox="1"/>
          <p:nvPr/>
        </p:nvSpPr>
        <p:spPr>
          <a:xfrm>
            <a:off x="985025" y="2724694"/>
            <a:ext cx="9663310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b="1" dirty="0">
                <a:solidFill>
                  <a:srgbClr val="000000"/>
                </a:solidFill>
                <a:effectLst/>
                <a:latin typeface="Sitka Display Semibold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 Novel Approach for Disaster Victim Detection Under Debris Environments Using Decision Tree Algorithms With Deep Learning Features</a:t>
            </a:r>
            <a:endParaRPr lang="en-IN" sz="1100" dirty="0">
              <a:effectLst/>
              <a:latin typeface="Sitka Display Semibold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264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-373878"/>
            <a:ext cx="10671048" cy="1362057"/>
          </a:xfrm>
        </p:spPr>
        <p:txBody>
          <a:bodyPr/>
          <a:lstStyle/>
          <a:p>
            <a:r>
              <a:rPr sz="3600" dirty="0"/>
              <a:t>Table of Contents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61589" y="703699"/>
            <a:ext cx="7647929" cy="6038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&amp; Disadvantages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&amp; Advantages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I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Novelty of project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Sequence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Diagram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57D1D5-8A11-FF46-9EB0-98B7A37787B3}"/>
              </a:ext>
            </a:extLst>
          </p:cNvPr>
          <p:cNvSpPr txBox="1"/>
          <p:nvPr/>
        </p:nvSpPr>
        <p:spPr>
          <a:xfrm>
            <a:off x="6449660" y="914708"/>
            <a:ext cx="4981864" cy="281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Deployment diagram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Source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Results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Conclusion and future enhancement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References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/>
              <a:t>Github</a:t>
            </a:r>
            <a:r>
              <a:rPr lang="en-IN" sz="2000" dirty="0"/>
              <a:t>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50491"/>
            <a:ext cx="10671048" cy="1362057"/>
          </a:xfrm>
        </p:spPr>
        <p:txBody>
          <a:bodyPr/>
          <a:lstStyle/>
          <a:p>
            <a:r>
              <a:rPr sz="3600" dirty="0"/>
              <a:t>Abstract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82419" y="1681050"/>
            <a:ext cx="10647581" cy="4934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This project proposes a deep learning based human victim detection system for disaster environments such as collapsed buildings.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The system uses RGB image datasets to identify human body parts like head, hand, leg and upper body.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A Transfer Learning based ResNet-50 model is used to extract features from images.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Machine learning algorithms such as Decision Tree, SVM, Random Forest, MLP and </a:t>
            </a:r>
            <a:r>
              <a:rPr lang="en-US" sz="2000" dirty="0" err="1">
                <a:solidFill>
                  <a:schemeClr val="tx1"/>
                </a:solidFill>
              </a:rPr>
              <a:t>XGBoost</a:t>
            </a:r>
            <a:r>
              <a:rPr lang="en-US" sz="2000" dirty="0">
                <a:solidFill>
                  <a:schemeClr val="tx1"/>
                </a:solidFill>
              </a:rPr>
              <a:t> are used for classification.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The system improves accuracy, speed and reliability of victim detection, helping rescue teams save lives during disaster situations.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4816" y="72280"/>
            <a:ext cx="4935390" cy="14774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550"/>
              </a:lnSpc>
            </a:pPr>
            <a:r>
              <a:rPr lang="en-US" sz="3600" dirty="0">
                <a:solidFill>
                  <a:schemeClr val="accent6"/>
                </a:solidFill>
                <a:latin typeface="+mj-lt"/>
                <a:ea typeface="Crimson Pro Semi Bold" pitchFamily="34" charset="-122"/>
                <a:cs typeface="Crimson Pro Semi Bold" pitchFamily="34" charset="-120"/>
              </a:rPr>
              <a:t>EXISTING SYSTEM</a:t>
            </a:r>
          </a:p>
          <a:p>
            <a:pPr>
              <a:lnSpc>
                <a:spcPts val="5550"/>
              </a:lnSpc>
            </a:pPr>
            <a:endParaRPr lang="en-US" sz="38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4759" y="839719"/>
            <a:ext cx="8466159" cy="2353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Voice detection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CO₂ sensors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Thermal sensors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Skin color detection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Motion detection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88D78-E1D0-261C-2579-57C58D526212}"/>
              </a:ext>
            </a:extLst>
          </p:cNvPr>
          <p:cNvSpPr txBox="1"/>
          <p:nvPr/>
        </p:nvSpPr>
        <p:spPr>
          <a:xfrm>
            <a:off x="366101" y="32348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accent6"/>
                </a:solidFill>
                <a:latin typeface="Arial Black" panose="020B0A04020102020204" pitchFamily="34" charset="0"/>
              </a:rPr>
              <a:t>DISADVANTAGES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11936-38B8-E586-13E0-E19DE8BE0D28}"/>
              </a:ext>
            </a:extLst>
          </p:cNvPr>
          <p:cNvSpPr txBox="1"/>
          <p:nvPr/>
        </p:nvSpPr>
        <p:spPr>
          <a:xfrm>
            <a:off x="444759" y="3830936"/>
            <a:ext cx="6115664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Slow detection process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Environmental factors affect sensors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 accuracy in debris environments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Difficulty detecting partially visible victims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computational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B67BE641-66E6-BFC8-EB06-07C224127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29575" y="315076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83240" y="105214"/>
            <a:ext cx="52609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IN" sz="3600" b="1" dirty="0">
                <a:solidFill>
                  <a:schemeClr val="accent6"/>
                </a:solidFill>
                <a:latin typeface="+mj-lt"/>
              </a:rPr>
              <a:t>PROPOSED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181621-37FD-0F1A-64FD-0D3946AD1BD7}"/>
              </a:ext>
            </a:extLst>
          </p:cNvPr>
          <p:cNvSpPr txBox="1"/>
          <p:nvPr/>
        </p:nvSpPr>
        <p:spPr>
          <a:xfrm>
            <a:off x="781575" y="612393"/>
            <a:ext cx="8696722" cy="6508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dirty="0"/>
              <a:t>The proposed system combines: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Deep Learning + Machine Learning</a:t>
            </a:r>
            <a:endParaRPr lang="en-IN" sz="2000" dirty="0"/>
          </a:p>
          <a:p>
            <a:pPr>
              <a:lnSpc>
                <a:spcPct val="150000"/>
              </a:lnSpc>
              <a:buNone/>
            </a:pPr>
            <a:r>
              <a:rPr lang="en-IN" sz="2000" dirty="0"/>
              <a:t>Steps involved: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Dataset collection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Image preprocessing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Feature extraction using </a:t>
            </a:r>
            <a:r>
              <a:rPr lang="en-IN" sz="2000" b="1" dirty="0"/>
              <a:t>ResNet-50</a:t>
            </a:r>
            <a:endParaRPr lang="en-IN" sz="20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Feature selection using </a:t>
            </a:r>
            <a:r>
              <a:rPr lang="en-IN" sz="2000" b="1" dirty="0"/>
              <a:t>Decision Tree</a:t>
            </a:r>
            <a:endParaRPr lang="en-IN" sz="20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Classification using ML algorithms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/>
              <a:t>Algorithms used: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SVM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Random Forest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MLP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/>
              <a:t>XGBoost</a:t>
            </a:r>
            <a:endParaRPr lang="en-IN" sz="2000" dirty="0"/>
          </a:p>
          <a:p>
            <a:pPr>
              <a:lnSpc>
                <a:spcPct val="150000"/>
              </a:lnSpc>
              <a:buNone/>
            </a:pPr>
            <a:endParaRPr lang="en-I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D8EB24-779F-15D0-EDB6-F660CDC2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94A486-BAE9-87AB-00B8-E77CA2B92E8E}"/>
              </a:ext>
            </a:extLst>
          </p:cNvPr>
          <p:cNvSpPr txBox="1"/>
          <p:nvPr/>
        </p:nvSpPr>
        <p:spPr>
          <a:xfrm>
            <a:off x="4145280" y="34775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accent6"/>
                </a:solidFill>
                <a:latin typeface="+mj-lt"/>
              </a:rPr>
              <a:t>ADVANTAGES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C4D60-E28A-E8AE-D74D-345B35CA4138}"/>
              </a:ext>
            </a:extLst>
          </p:cNvPr>
          <p:cNvSpPr txBox="1"/>
          <p:nvPr/>
        </p:nvSpPr>
        <p:spPr>
          <a:xfrm>
            <a:off x="985520" y="1302157"/>
            <a:ext cx="6116320" cy="281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High detection accuracy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Faster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transfer learning for better feature extraction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Works with RGB images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Handles complex debris environments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multiple classification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1358655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59282B-5553-B1B0-AFD7-F443DD6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D530A4-0517-96CE-75C2-4D69B903EA15}"/>
              </a:ext>
            </a:extLst>
          </p:cNvPr>
          <p:cNvSpPr txBox="1"/>
          <p:nvPr/>
        </p:nvSpPr>
        <p:spPr>
          <a:xfrm>
            <a:off x="2753360" y="2562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6"/>
                </a:solidFill>
                <a:latin typeface="+mj-lt"/>
              </a:rPr>
              <a:t>NOVELTY OF PROJECT</a:t>
            </a:r>
            <a:endParaRPr lang="en-IN" sz="36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77467E-2D22-7991-6647-35286C99EBD2}"/>
              </a:ext>
            </a:extLst>
          </p:cNvPr>
          <p:cNvSpPr txBox="1"/>
          <p:nvPr/>
        </p:nvSpPr>
        <p:spPr>
          <a:xfrm>
            <a:off x="1483360" y="1536174"/>
            <a:ext cx="82397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Combines deep learning (ResNet-50) with machine learning classifiers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Uses decision tree-based feature selection to reduce complexity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Introduces a custom multi-class victim dataset (body parts)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Achieves high accuracy with low computation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Focuses on fast classification instead of complex detection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Suitable for real-time disaster rescue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05386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8BA500-F91A-9F1A-5FC6-78727E132FCB}"/>
              </a:ext>
            </a:extLst>
          </p:cNvPr>
          <p:cNvSpPr txBox="1"/>
          <p:nvPr/>
        </p:nvSpPr>
        <p:spPr>
          <a:xfrm>
            <a:off x="645458" y="178857"/>
            <a:ext cx="8275021" cy="165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chemeClr val="accent6"/>
                </a:solidFill>
                <a:latin typeface="+mj-lt"/>
                <a:ea typeface="Crimson Pro Semi Bold" pitchFamily="34" charset="-122"/>
              </a:rPr>
              <a:t>PROJECT</a:t>
            </a:r>
            <a:r>
              <a:rPr lang="en-US" sz="3600" dirty="0">
                <a:solidFill>
                  <a:schemeClr val="accent6"/>
                </a:solidFill>
                <a:latin typeface="+mj-lt"/>
                <a:ea typeface="Crimson Pro Semi Bold" pitchFamily="34" charset="-122"/>
              </a:rPr>
              <a:t> </a:t>
            </a:r>
            <a:r>
              <a:rPr lang="en-US" sz="3600" b="1" dirty="0">
                <a:solidFill>
                  <a:schemeClr val="accent6"/>
                </a:solidFill>
                <a:latin typeface="+mj-lt"/>
                <a:ea typeface="Crimson Pro Semi Bold" pitchFamily="34" charset="-122"/>
              </a:rPr>
              <a:t>ARCHITECTURE</a:t>
            </a:r>
            <a:endParaRPr lang="en-US" sz="3600" dirty="0">
              <a:solidFill>
                <a:schemeClr val="accent6"/>
              </a:solidFill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5BB2FF-6164-9547-813D-E68E413984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45" b="9926"/>
          <a:stretch>
            <a:fillRect/>
          </a:stretch>
        </p:blipFill>
        <p:spPr>
          <a:xfrm>
            <a:off x="2865120" y="1029314"/>
            <a:ext cx="5151120" cy="575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77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A59E89-B8E7-75D0-A4E9-2226C52A8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D993C-0B11-CFA5-2627-8D1F058BE4C6}"/>
              </a:ext>
            </a:extLst>
          </p:cNvPr>
          <p:cNvSpPr txBox="1"/>
          <p:nvPr/>
        </p:nvSpPr>
        <p:spPr>
          <a:xfrm>
            <a:off x="3962400" y="-35466"/>
            <a:ext cx="6096000" cy="837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+mj-lt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8FE2D-A229-D89F-B1DC-95DB28AF58A3}"/>
              </a:ext>
            </a:extLst>
          </p:cNvPr>
          <p:cNvSpPr txBox="1"/>
          <p:nvPr/>
        </p:nvSpPr>
        <p:spPr>
          <a:xfrm>
            <a:off x="1300480" y="918984"/>
            <a:ext cx="794512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1.Data Collection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Collects RGB images of human body parts and debris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Creates a custom dataset (head, hand, leg, etc.)</a:t>
            </a:r>
          </a:p>
          <a:p>
            <a:r>
              <a:rPr lang="en-IN" b="1" dirty="0"/>
              <a:t>2. Preprocessing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Cleans and resizes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Applies data augmentation (rotation, flipping)</a:t>
            </a:r>
          </a:p>
          <a:p>
            <a:r>
              <a:rPr lang="en-IN" b="1" dirty="0"/>
              <a:t>3.Feature Extraction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Uses ResNet-50 (Transfer Learning)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Extracts important features from images</a:t>
            </a:r>
          </a:p>
          <a:p>
            <a:r>
              <a:rPr lang="en-IN" b="1" dirty="0"/>
              <a:t>4.Feature Selection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Uses Decision Tree (J48)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Selects only relevant features to reduce complexity</a:t>
            </a:r>
          </a:p>
          <a:p>
            <a:r>
              <a:rPr lang="en-IN" b="1" dirty="0"/>
              <a:t>5.Classification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Applies ML algorithms: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XGBoost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Classifies the detected body part</a:t>
            </a:r>
          </a:p>
        </p:txBody>
      </p:sp>
    </p:spTree>
    <p:extLst>
      <p:ext uri="{BB962C8B-B14F-4D97-AF65-F5344CB8AC3E}">
        <p14:creationId xmlns:p14="http://schemas.microsoft.com/office/powerpoint/2010/main" val="130621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8B540F-470E-C938-0979-E69756B5B3F8}"/>
              </a:ext>
            </a:extLst>
          </p:cNvPr>
          <p:cNvSpPr txBox="1"/>
          <p:nvPr/>
        </p:nvSpPr>
        <p:spPr>
          <a:xfrm>
            <a:off x="3195482" y="225507"/>
            <a:ext cx="7360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accent6"/>
                </a:solidFill>
                <a:latin typeface="+mj-lt"/>
              </a:rPr>
              <a:t> CLASS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5AA935-890B-560E-01B9-C3078B15A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06993" y="1415845"/>
            <a:ext cx="5978013" cy="4857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40845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8197" y="0"/>
            <a:ext cx="6506805" cy="1362057"/>
          </a:xfrm>
        </p:spPr>
        <p:txBody>
          <a:bodyPr/>
          <a:lstStyle/>
          <a:p>
            <a:r>
              <a:rPr sz="3600" dirty="0"/>
              <a:t>Use Case Diagram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10000" y="0"/>
            <a:ext cx="1371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914F55D-3804-BA5D-EFE0-A4C1755AB0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10090" y="692027"/>
            <a:ext cx="8371819" cy="600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76" y="26328"/>
            <a:ext cx="10671048" cy="1362057"/>
          </a:xfrm>
        </p:spPr>
        <p:txBody>
          <a:bodyPr/>
          <a:lstStyle/>
          <a:p>
            <a:r>
              <a:rPr lang="en-IN" sz="3600" dirty="0"/>
              <a:t>Sequence</a:t>
            </a:r>
            <a:r>
              <a:rPr sz="3600" dirty="0"/>
              <a:t> Diagram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10000" y="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10000" y="0"/>
            <a:ext cx="3657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296400" y="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AutoShape 2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5A7928-39F7-3B42-FBDA-02ACF4369C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78000" y="1087120"/>
            <a:ext cx="9530079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523" y="80710"/>
            <a:ext cx="10671048" cy="1362057"/>
          </a:xfrm>
        </p:spPr>
        <p:txBody>
          <a:bodyPr/>
          <a:lstStyle/>
          <a:p>
            <a:r>
              <a:rPr lang="en-IN" sz="3600" dirty="0" err="1"/>
              <a:t>CoLLABORATION</a:t>
            </a:r>
            <a:r>
              <a:rPr sz="3600" dirty="0"/>
              <a:t> Diagram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10000" y="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53200" y="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2AA1017-F26C-2980-BDA8-CD4A367B0A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4400" y="1138872"/>
            <a:ext cx="8260079" cy="5515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B0F81D-966A-CE54-E4DB-9B6D47B326A4}"/>
              </a:ext>
            </a:extLst>
          </p:cNvPr>
          <p:cNvSpPr txBox="1"/>
          <p:nvPr/>
        </p:nvSpPr>
        <p:spPr>
          <a:xfrm>
            <a:off x="2405842" y="103918"/>
            <a:ext cx="7217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6"/>
                </a:solidFill>
                <a:latin typeface="+mj-lt"/>
              </a:rPr>
              <a:t>COMPONENT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A8399A-0797-AAAD-BB3B-FD12E8F602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5200" y="659764"/>
            <a:ext cx="7863839" cy="6106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2358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FB5174-C452-74DD-EF98-E5EDE1FF6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E353F5-512B-F8F6-B5A0-2B15EC703F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1920" y="778192"/>
            <a:ext cx="6959600" cy="556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631AD2-9F97-C271-D3DA-7426AD7F8026}"/>
              </a:ext>
            </a:extLst>
          </p:cNvPr>
          <p:cNvSpPr txBox="1"/>
          <p:nvPr/>
        </p:nvSpPr>
        <p:spPr>
          <a:xfrm>
            <a:off x="3261360" y="-15599"/>
            <a:ext cx="7091680" cy="837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accent6"/>
                </a:solidFill>
                <a:effectLst/>
                <a:latin typeface="+mj-lt"/>
                <a:ea typeface="Times New Roman" panose="02020603050405020304" pitchFamily="18" charset="0"/>
              </a:rPr>
              <a:t>DEPLOYMENT DIAGRAM</a:t>
            </a:r>
            <a:endParaRPr lang="en-IN" sz="3600" dirty="0">
              <a:solidFill>
                <a:schemeClr val="accent6"/>
              </a:solidFill>
              <a:effectLst/>
              <a:latin typeface="+mj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706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410F03-FD15-360F-42DE-A616246C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58CD0F-CE51-CE2F-31C5-2889305AD11A}"/>
              </a:ext>
            </a:extLst>
          </p:cNvPr>
          <p:cNvSpPr txBox="1"/>
          <p:nvPr/>
        </p:nvSpPr>
        <p:spPr>
          <a:xfrm>
            <a:off x="3566160" y="13403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spc="-10" dirty="0">
                <a:solidFill>
                  <a:schemeClr val="accent6"/>
                </a:solidFill>
                <a:effectLst/>
                <a:latin typeface="+mj-lt"/>
                <a:ea typeface="Times New Roman" panose="02020603050405020304" pitchFamily="18" charset="0"/>
              </a:rPr>
              <a:t>SAMPLE</a:t>
            </a:r>
            <a:r>
              <a:rPr lang="en-US" sz="3600" b="1" spc="-50" dirty="0">
                <a:solidFill>
                  <a:schemeClr val="accent6"/>
                </a:solidFill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US" sz="3600" b="1" spc="-20" dirty="0">
                <a:solidFill>
                  <a:schemeClr val="accent6"/>
                </a:solidFill>
                <a:effectLst/>
                <a:latin typeface="+mj-lt"/>
                <a:ea typeface="Times New Roman" panose="02020603050405020304" pitchFamily="18" charset="0"/>
              </a:rPr>
              <a:t>CODE</a:t>
            </a:r>
            <a:endParaRPr lang="en-IN" sz="3600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91D538-B003-F4A1-91D1-0403653769A4}"/>
              </a:ext>
            </a:extLst>
          </p:cNvPr>
          <p:cNvSpPr txBox="1"/>
          <p:nvPr/>
        </p:nvSpPr>
        <p:spPr>
          <a:xfrm>
            <a:off x="812800" y="797510"/>
            <a:ext cx="6096000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from </a:t>
            </a:r>
            <a:r>
              <a:rPr lang="en-US" sz="1600" dirty="0" err="1"/>
              <a:t>tkinter</a:t>
            </a:r>
            <a:r>
              <a:rPr lang="en-US" sz="1600" dirty="0"/>
              <a:t> import *</a:t>
            </a:r>
            <a:endParaRPr lang="en-IN" sz="1600" dirty="0"/>
          </a:p>
          <a:p>
            <a:r>
              <a:rPr lang="en-US" sz="1600" dirty="0"/>
              <a:t>import </a:t>
            </a:r>
            <a:r>
              <a:rPr lang="en-US" sz="1600" dirty="0" err="1"/>
              <a:t>tkinter</a:t>
            </a:r>
            <a:endParaRPr lang="en-IN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tkinter</a:t>
            </a:r>
            <a:r>
              <a:rPr lang="en-US" sz="1600" dirty="0"/>
              <a:t> import </a:t>
            </a:r>
            <a:r>
              <a:rPr lang="en-US" sz="1600" dirty="0" err="1"/>
              <a:t>filedialog</a:t>
            </a:r>
            <a:endParaRPr lang="en-IN" sz="1600" dirty="0"/>
          </a:p>
          <a:p>
            <a:r>
              <a:rPr lang="en-US" sz="1600" dirty="0"/>
              <a:t>import </a:t>
            </a:r>
            <a:r>
              <a:rPr lang="en-US" sz="1600" dirty="0" err="1"/>
              <a:t>matplotlib.pyplot</a:t>
            </a:r>
            <a:r>
              <a:rPr lang="en-US" sz="1600" dirty="0"/>
              <a:t> as </a:t>
            </a:r>
            <a:r>
              <a:rPr lang="en-US" sz="1600" dirty="0" err="1"/>
              <a:t>plt</a:t>
            </a:r>
            <a:endParaRPr lang="en-IN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tkinter.filedialog</a:t>
            </a:r>
            <a:r>
              <a:rPr lang="en-US" sz="1600" dirty="0"/>
              <a:t> import </a:t>
            </a:r>
            <a:r>
              <a:rPr lang="en-US" sz="1600" dirty="0" err="1"/>
              <a:t>askopenfilename</a:t>
            </a:r>
            <a:endParaRPr lang="en-IN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sklearn.tree</a:t>
            </a:r>
            <a:r>
              <a:rPr lang="en-US" sz="1600" dirty="0"/>
              <a:t> import </a:t>
            </a:r>
            <a:r>
              <a:rPr lang="en-US" sz="1600" dirty="0" err="1"/>
              <a:t>DecisionTreeClassifier</a:t>
            </a:r>
            <a:endParaRPr lang="en-IN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sklearn.feature_selection</a:t>
            </a:r>
            <a:r>
              <a:rPr lang="en-US" sz="1600" dirty="0"/>
              <a:t> import </a:t>
            </a:r>
            <a:r>
              <a:rPr lang="en-US" sz="1600" dirty="0" err="1"/>
              <a:t>SelectFromModel</a:t>
            </a:r>
            <a:endParaRPr lang="en-IN" sz="1600" dirty="0"/>
          </a:p>
          <a:p>
            <a:r>
              <a:rPr lang="en-US" sz="1600" dirty="0"/>
              <a:t>import seaborn as </a:t>
            </a:r>
            <a:r>
              <a:rPr lang="en-US" sz="1600" dirty="0" err="1"/>
              <a:t>sns</a:t>
            </a:r>
            <a:endParaRPr lang="en-IN" sz="1600" dirty="0"/>
          </a:p>
          <a:p>
            <a:r>
              <a:rPr lang="en-US" sz="1600" dirty="0"/>
              <a:t>import </a:t>
            </a:r>
            <a:r>
              <a:rPr lang="en-US" sz="1600" dirty="0" err="1"/>
              <a:t>os</a:t>
            </a:r>
            <a:endParaRPr lang="en-IN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sklearn.metrics</a:t>
            </a:r>
            <a:r>
              <a:rPr lang="en-US" sz="1600" dirty="0"/>
              <a:t> import </a:t>
            </a:r>
            <a:r>
              <a:rPr lang="en-US" sz="1600" dirty="0" err="1"/>
              <a:t>confusion_matrix</a:t>
            </a:r>
            <a:endParaRPr lang="en-IN" sz="1600" dirty="0"/>
          </a:p>
          <a:p>
            <a:r>
              <a:rPr lang="en-US" sz="1600" dirty="0"/>
              <a:t>import cv2</a:t>
            </a:r>
            <a:endParaRPr lang="en-IN" sz="1600" dirty="0"/>
          </a:p>
          <a:p>
            <a:r>
              <a:rPr lang="en-US" sz="1600" dirty="0"/>
              <a:t>import </a:t>
            </a:r>
            <a:r>
              <a:rPr lang="en-US" sz="1600" dirty="0" err="1"/>
              <a:t>numpy</a:t>
            </a:r>
            <a:r>
              <a:rPr lang="en-US" sz="1600" dirty="0"/>
              <a:t> as np</a:t>
            </a:r>
            <a:endParaRPr lang="en-IN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keras.utils.np_utils</a:t>
            </a:r>
            <a:r>
              <a:rPr lang="en-US" sz="1600" dirty="0"/>
              <a:t> import </a:t>
            </a:r>
            <a:r>
              <a:rPr lang="en-US" sz="1600" dirty="0" err="1"/>
              <a:t>to_categorical</a:t>
            </a:r>
            <a:endParaRPr lang="en-IN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keras.layers</a:t>
            </a:r>
            <a:r>
              <a:rPr lang="en-US" sz="1600" dirty="0"/>
              <a:t> import  MaxPooling2D</a:t>
            </a:r>
            <a:endParaRPr lang="en-IN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keras.layers</a:t>
            </a:r>
            <a:r>
              <a:rPr lang="en-US" sz="1600" dirty="0"/>
              <a:t> import Dense, Dropout, Activation, Flatten, GlobalAveragePooling2D, </a:t>
            </a:r>
            <a:r>
              <a:rPr lang="en-US" sz="1600" dirty="0" err="1"/>
              <a:t>BatchNormalization</a:t>
            </a:r>
            <a:endParaRPr lang="en-IN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keras.layers</a:t>
            </a:r>
            <a:r>
              <a:rPr lang="en-US" sz="1600" dirty="0"/>
              <a:t> import Convolution2D</a:t>
            </a:r>
            <a:endParaRPr lang="en-IN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keras.models</a:t>
            </a:r>
            <a:r>
              <a:rPr lang="en-US" sz="1600" dirty="0"/>
              <a:t> import Sequential, </a:t>
            </a:r>
            <a:r>
              <a:rPr lang="en-US" sz="1600" dirty="0" err="1"/>
              <a:t>load_model</a:t>
            </a:r>
            <a:r>
              <a:rPr lang="en-US" sz="1600" dirty="0"/>
              <a:t>, Model</a:t>
            </a:r>
            <a:endParaRPr lang="en-IN" sz="1600" dirty="0"/>
          </a:p>
          <a:p>
            <a:r>
              <a:rPr lang="en-US" sz="1600" dirty="0"/>
              <a:t>import pickle</a:t>
            </a:r>
            <a:endParaRPr lang="en-IN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sklearn.metrics</a:t>
            </a:r>
            <a:r>
              <a:rPr lang="en-US" sz="1600" dirty="0"/>
              <a:t> import </a:t>
            </a:r>
            <a:r>
              <a:rPr lang="en-US" sz="1600" dirty="0" err="1"/>
              <a:t>precision_score</a:t>
            </a:r>
            <a:endParaRPr lang="en-IN" sz="1600" dirty="0"/>
          </a:p>
          <a:p>
            <a:r>
              <a:rPr lang="en-US" sz="1600" dirty="0"/>
              <a:t>from </a:t>
            </a:r>
            <a:r>
              <a:rPr lang="en-US" sz="1600" dirty="0" err="1"/>
              <a:t>sklearn.metrics</a:t>
            </a:r>
            <a:r>
              <a:rPr lang="en-US" sz="1600" dirty="0"/>
              <a:t> import </a:t>
            </a:r>
            <a:r>
              <a:rPr lang="en-US" sz="1600" dirty="0" err="1"/>
              <a:t>recall_score</a:t>
            </a:r>
            <a:endParaRPr lang="en-US" sz="1600" dirty="0"/>
          </a:p>
          <a:p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from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sklearn.metrics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import f1_score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from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sklearn.metrics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import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accuracy_score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A9A474-EF53-70EF-39E4-EB2B7D48FB22}"/>
              </a:ext>
            </a:extLst>
          </p:cNvPr>
          <p:cNvSpPr txBox="1"/>
          <p:nvPr/>
        </p:nvSpPr>
        <p:spPr>
          <a:xfrm>
            <a:off x="6096000" y="813961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sklearn.model_selection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import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train_test_split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keras.callbacks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import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ModelCheckpoint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keras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sklearn.metrics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import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accuracy_score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sklearn.model_selection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import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train_test_split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keras.applications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import ResNet50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sklearn.neural_network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import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MLPClassifier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sklearn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import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svm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sklearn.ensemble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import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RandomForestClassifier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xgboost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xg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 pandas as pd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main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tkinter.Tk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main.title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("A Novel Approach for Disaster Victim Detection Under Debris Environments Using Decision Tree Algorithms With Deep Learning Features")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713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D3749B-B445-D855-C281-1CCEE090D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32B376-1F16-ECB7-F99F-636DE224EB6A}"/>
              </a:ext>
            </a:extLst>
          </p:cNvPr>
          <p:cNvSpPr txBox="1"/>
          <p:nvPr/>
        </p:nvSpPr>
        <p:spPr>
          <a:xfrm>
            <a:off x="914400" y="258901"/>
            <a:ext cx="609600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main.geometry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("1200x1200")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labels = ['Body', 'Hand', 'Leg']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global filename, X, Y,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X_train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y_train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X_test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y_test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global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accuracy, precision, recall,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fscore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resnet_features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global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X_train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X_test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y_train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y_test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def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getLabel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(name):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index = -1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for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range(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(labels)):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if labels[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 == name: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index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break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return index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def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uploadDataset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global filename, X, Y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filename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filedialog.askdirectory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initialdir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=".")</a:t>
            </a:r>
          </a:p>
          <a:p>
            <a:pPr algn="just">
              <a:spcBef>
                <a:spcPts val="1200"/>
              </a:spcBef>
            </a:pPr>
            <a:r>
              <a:rPr lang="en-US" sz="1600" dirty="0" err="1"/>
              <a:t>pathlabel.config</a:t>
            </a:r>
            <a:r>
              <a:rPr lang="en-US" sz="1600" dirty="0"/>
              <a:t>(text=filename)</a:t>
            </a:r>
            <a:endParaRPr lang="en-IN" sz="1600" dirty="0"/>
          </a:p>
          <a:p>
            <a:pPr algn="just">
              <a:spcBef>
                <a:spcPts val="1200"/>
              </a:spcBef>
              <a:buNone/>
            </a:pP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7E7FA-2D8D-CA50-2F22-328944DB355F}"/>
              </a:ext>
            </a:extLst>
          </p:cNvPr>
          <p:cNvSpPr txBox="1"/>
          <p:nvPr/>
        </p:nvSpPr>
        <p:spPr>
          <a:xfrm>
            <a:off x="6715760" y="117693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text.delete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('1.0', END)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END,filename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+" loaded\n\n")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if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os.path.exists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('model/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X.txt.npy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'):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X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np.load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('model/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X.txt.npy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Y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np.load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('model/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Y.txt.npy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else: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X = []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Y = []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for root,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dirs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directory in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os.walk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(path):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for j in range(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(directory)):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name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os.path.basename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(root)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if '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Thumbs.db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 not in directory[j]: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cv2.imread(root+"/"+directory[j])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cv2.resize(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(32, 32))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X.append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label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getLabel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(name)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Y.append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(label)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348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F47466-4988-2D50-B9A0-1494B6338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8164E-DC17-5351-91DF-C37FAC9F0A4E}"/>
              </a:ext>
            </a:extLst>
          </p:cNvPr>
          <p:cNvSpPr txBox="1"/>
          <p:nvPr/>
        </p:nvSpPr>
        <p:spPr>
          <a:xfrm>
            <a:off x="765973" y="348933"/>
            <a:ext cx="6096000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np.asarray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(X)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Y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np.asarray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(Y)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np.save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('model/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X.txt',X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np.save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('model/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Y.txt',Y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END,"Total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images loaded = "+str(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X.shape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[0])+"\n")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END,"Victim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Parts Found in Dataset : "+str(labels))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unique, count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np.unique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(Y,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return_counts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True)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height = count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bars = labels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y_pos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np.arange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(bars))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plt.figure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figsize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=(6,3))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plt.bar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y_pos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height)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plt.xticks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y_pos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bars)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plt.xlabel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("Victim Dataset Graphs")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plt.ylabel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("Count")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plt.title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("Dataset Class Label Graph")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B1EF5D-67A3-70A3-D9D9-CB5F1E29FB28}"/>
              </a:ext>
            </a:extLst>
          </p:cNvPr>
          <p:cNvSpPr txBox="1"/>
          <p:nvPr/>
        </p:nvSpPr>
        <p:spPr>
          <a:xfrm>
            <a:off x="6096000" y="-943729"/>
            <a:ext cx="6096000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plt.tight_layout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plt.show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processDataset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global X, Y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text.delete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('1.0', END)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X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X.astype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('float32')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X = X/255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indices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np.arange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X.shape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[0])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np.random.shuffle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(indices)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X = X[indices]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Y = Y[indices]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Y =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to_categorical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(Y)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END,"Images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pixels shuffling &amp; normalizations completed\n\n")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END,"Total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features found in each image = "+str(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X.shape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 *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X.shape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 *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X.shape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[3])+"\n\n")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featuresExtraction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():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global X, Y,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resnet_features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889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DBD019-A5F3-04AF-3405-1F2F0988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26AC-38DB-3CC9-FDDC-91EEF44749B6}"/>
              </a:ext>
            </a:extLst>
          </p:cNvPr>
          <p:cNvSpPr txBox="1"/>
          <p:nvPr/>
        </p:nvSpPr>
        <p:spPr>
          <a:xfrm>
            <a:off x="765973" y="169922"/>
            <a:ext cx="6096000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ResNet50(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input_shape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X.shape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X.shape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[2],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X.shape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[3]),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include_top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=False, weights='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imagenet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for layer in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resnet_model.layers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layer.trainable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False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Sequential()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resnet_model.add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(Convolution2D(32, (3, 3),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input_shape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X.shape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X.shape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X.shape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[3]), activation = 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relu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'))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resnet_model.add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(MaxPooling2D(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pool_size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(2, 2)))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resnet_model.add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(Convolution2D(32, (3, 3), activation = 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relu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'))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resnet_model.add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(MaxPooling2D(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pool_size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(2, 2)))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resnet_model.add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(Flatten())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resnet_model.add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(Dense(units = 256, activation = 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relu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'))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resnet_model.add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(Dense(units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Y.shape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[1], activation = 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softmax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'))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resnet_model.compile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(optimizer = 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adam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', loss = 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categorical_cross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entropy', metrics = ['accuracy'])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if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os.path.exists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("model/resnet_weights.hdf5") == False: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model_check_point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ModelCheckpoint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filepath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='model/resnet_weights.hdf5',verbose=1,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save_best_only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True)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ADE7B3-A438-15E3-1074-00F9826DD889}"/>
              </a:ext>
            </a:extLst>
          </p:cNvPr>
          <p:cNvSpPr txBox="1"/>
          <p:nvPr/>
        </p:nvSpPr>
        <p:spPr>
          <a:xfrm>
            <a:off x="5968680" y="271582"/>
            <a:ext cx="5953244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hist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resnet_model.fit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(X, Y,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batch_size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32, epochs = 20, 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validation_data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=(X, Y), callbacks=[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model_check_point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], verbose=1)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f = open('model/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resnet_history.pckl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', 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wb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pickle.dump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hist.history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f)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f.close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   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else: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resnet_model.load_weights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("model/resnet_weights.hdf5")  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resnet_features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Model(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resnet_model.inputs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resnet_model.layers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[-2].output)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#create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model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resnet_features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resnet_features.predict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(X)  #extracting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features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Y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np.argmax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(Y, axis=1)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END,"Total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features extracted by ResNet50 from 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each Image : "+str(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resnet_features.shape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[1])+"\n\n")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featuresSelection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():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global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resnet_features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Y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global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y_test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dt_cls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DecisionTreeClassifier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40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29D742-141A-CA8C-72C7-0975DF6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97BEB-09B1-2224-8AE6-FBE27A9EDAAC}"/>
              </a:ext>
            </a:extLst>
          </p:cNvPr>
          <p:cNvSpPr txBox="1"/>
          <p:nvPr/>
        </p:nvSpPr>
        <p:spPr>
          <a:xfrm>
            <a:off x="765973" y="0"/>
            <a:ext cx="6096000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selector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SelectFromModel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dt_cls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threshold=0.00000005)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selector.fit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resnet_features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Y)#train algorithm using training features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target value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selected_features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selector.get_support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resnet_features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resnet_features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[:,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selected_features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 #extract selected features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END,"Total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features selected by Decision Tree (J48) Algorithm : "+str(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resnet_features.shape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[1])+"\n\n")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train_test_split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resnet_features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test_size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=0.2)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END,"Dataset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Training &amp; Testing Details\n\n")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(END,"80% images for training : "+str(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X_train.shape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[0])+"\n")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(END,"20% images for testing  : "+str(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X_test.shape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[0])+"\n")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#function to calculate all metrics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calculateMetrics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(algorithm,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testY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predict):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global labels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p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precision_score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testY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predict,average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='macro') * 100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r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recall_score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testY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predict,average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='macro') * 100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f = f1_score(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testY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predict,average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='macro') * 100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5892A-B678-D799-D607-05E5CAFFDDDD}"/>
              </a:ext>
            </a:extLst>
          </p:cNvPr>
          <p:cNvSpPr txBox="1"/>
          <p:nvPr/>
        </p:nvSpPr>
        <p:spPr>
          <a:xfrm>
            <a:off x="6624320" y="0"/>
            <a:ext cx="6096000" cy="7325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accuracy_score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testY,predict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)*100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accuracy.append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precision.append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(p)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recall.append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(r)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fscore.append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END,algorithm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+" Accuracy  : "+str(a)+"\n")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END,algorithm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+" Precision : "+str(p)+"\n")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END,algorithm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+" Recall    : "+str(r)+"\n")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text.insert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END,algorithm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+" FSCORE    : "+str(f)+"\n\n")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conf_matrix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confusion_matrix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testY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predict)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plt.figure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figsize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=(6, 3))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ax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sns.heatmap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conf_matrix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xticklabels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labels,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yticklabels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labels, 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annot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True,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cmap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="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viridis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 ,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fmt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="g");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ax.set_ylim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([0,len(labels)])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plt.title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(algorithm+" Confusion matrix")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plt.xticks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(rotation=90)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plt.ylabel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('True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class'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plt.xlabel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('Predicted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class'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plt.show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      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15026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26DED-7691-3293-BF39-A76F79FAD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4455B-DBF3-21D4-35AC-9A54110ADDFE}"/>
              </a:ext>
            </a:extLst>
          </p:cNvPr>
          <p:cNvSpPr txBox="1"/>
          <p:nvPr/>
        </p:nvSpPr>
        <p:spPr>
          <a:xfrm>
            <a:off x="765973" y="-85268"/>
            <a:ext cx="6096000" cy="695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runSVM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():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global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y_test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global accuracy, precision, recall,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fscore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text.delete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('1.0', END)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accuracy = []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precision = []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recall = []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fscore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[]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svm_cls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svm.SVC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(C=102.0,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=1.9)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svm_cls.fit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predict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svm_cls.predict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calculateMetrics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("SVM",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predict)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def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runRandomForest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():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rf_cls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RandomForestClassifier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rf_cls.fit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predict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rf_cls.predict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calculateMetrics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("Random Forest",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predict)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def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runNaiveBayes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():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mlp_cls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MLPClassifier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hidden_layer_sizes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=2)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76C5C-BB59-13CA-0433-BADDA1FA479A}"/>
              </a:ext>
            </a:extLst>
          </p:cNvPr>
          <p:cNvSpPr txBox="1"/>
          <p:nvPr/>
        </p:nvSpPr>
        <p:spPr>
          <a:xfrm>
            <a:off x="5181600" y="-62050"/>
            <a:ext cx="6096000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mlp_cls.fit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predict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mlp_cls.predict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calculateMetrics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("MLP",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predict)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runExtension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():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global accuracy, precision, recall,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fscore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y_test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X_test1,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y_test1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train_test_split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resnet_features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Y,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test_size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=0.1)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xg_model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xg.XGBClassifier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 #create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XGBOost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object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xg_model.fit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y_train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predict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xg_model.predict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X_test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calculateMetrics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("Extension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XGBoost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y_test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predict)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 graph():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global accuracy, precision, recall,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fscore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rmse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pd.DataFrame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([['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SVM','Precision',precision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[0]],['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SVM','Recall',recall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[0]],['SVM','F1 Score',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fscore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[0]],['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SVM','Accuracy',accuracy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[0]],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['Random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Forest','Precision',precision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[1]],['Random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Forest','Recall',recall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[1]],['Random Forest','F1 Score',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fscore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[1]],['Random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Forest','Accuracy',accuracy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[1]],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1129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D3432D-F57E-4B72-DF4B-33580ABB4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78F44-8722-347C-A238-CD93FD151DC6}"/>
              </a:ext>
            </a:extLst>
          </p:cNvPr>
          <p:cNvSpPr txBox="1"/>
          <p:nvPr/>
        </p:nvSpPr>
        <p:spPr>
          <a:xfrm>
            <a:off x="765973" y="181957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['Naive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Bayes','Precision',precision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[2]],['Naive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Bayes','Recall',recall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[2]],['Naive Bayes','F1 Score',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fscore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[2]],['Naive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Bayes','Accuracy',accuracy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[2]],['Extension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XGBoost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','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Precision',precision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[3]],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ExtensionXGBoost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','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Recall',recall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[3]],['ExtensionXGBoost','F1Score',fscore[3]],['Extension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XGBoost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','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Accuracy',accuracy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[3]],],columns=['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Algorithms','Performance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Output','Value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'])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df.pivot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("Algorithms", "Performance Output", "Value").plot(kind='bar')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plt.show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   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def predict():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global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labels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filename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filedialog.askopenfilename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initialdir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="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testImages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pathlabel.config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(text=filename)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text.delete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('1.0', END)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cv2.imread(filename)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cv2.resize(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(32,32))#resize image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im2arr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np.array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im2arr = im2arr.reshape(1,32,32,3)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np.asarray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(im2arr)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49F61-42D1-1DE0-4526-AA3C39094E21}"/>
              </a:ext>
            </a:extLst>
          </p:cNvPr>
          <p:cNvSpPr txBox="1"/>
          <p:nvPr/>
        </p:nvSpPr>
        <p:spPr>
          <a:xfrm>
            <a:off x="6861973" y="254923"/>
            <a:ext cx="6096000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img.astype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('float32')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/255 #normalizing test image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predict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resnet_model.predict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)#now using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cnn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model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detcet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tumor damage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predict =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np.argmax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(predict)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cv2.imread(filename)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cv2.resize(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(600,400))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cv2.putText(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'Victim Part Detected : '+labels[predict], 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(100, 25),  cv2.FONT_HERSHEY_SIMPLEX,0.7, (0, 0, 255), 2)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cv2.imshow("Predicted Output",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cv2.waitKey(0)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font = ('times', 15, 'bold')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title = Label(main, text='A Novel Approach for Disaster Victim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Detection Under Debris Environments Using Decision Tree 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Algorithms With Deep Learning Features')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title.config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='brown',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='white') 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title.config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(font=font)          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247472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6C9C88-BDFF-02D0-D0C8-415ED4BF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6DD1E-ABE2-2DB9-18FC-0E17A9252D0E}"/>
              </a:ext>
            </a:extLst>
          </p:cNvPr>
          <p:cNvSpPr txBox="1"/>
          <p:nvPr/>
        </p:nvSpPr>
        <p:spPr>
          <a:xfrm>
            <a:off x="765973" y="289679"/>
            <a:ext cx="6096000" cy="695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title.config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(height=3, width=120)      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title.place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(x=30,y=5)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font1 = ('times', 13, 'bold')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upload = Button(main, text="Upload Victim 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Detection Dataset", command=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uploadDataset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upload.place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(x=50,y=100)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upload.config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(font=font1) 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pathlabel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Label(main)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pathlabel.config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='brown',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='white') 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pathlabel.config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(font=font1)          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pathlabel.place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(x=480,y=100)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processButton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Button(main, text="Features Processing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&amp;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Normalizaton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", command=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processDataset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processButton.place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(x=50,y=150)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processButton.config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(font=font1)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dtButton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Button(main, text="Features Selection Decision</a:t>
            </a: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Tree", command=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featuresSelection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dtButton.place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(x=650,y=150)</a:t>
            </a:r>
            <a:endParaRPr lang="en-IN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5B450-39C7-436B-E8B6-4503E241D6A5}"/>
              </a:ext>
            </a:extLst>
          </p:cNvPr>
          <p:cNvSpPr txBox="1"/>
          <p:nvPr/>
        </p:nvSpPr>
        <p:spPr>
          <a:xfrm>
            <a:off x="5646837" y="-1434425"/>
            <a:ext cx="6096000" cy="907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resnetButton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Button(main, text="Extract Features from ResNet50", command=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featuresExtraction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resnetButton.place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(x=350,y=150)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resnetButton.config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(font=font1)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dtButton.config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(font=font1)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svmButton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Button(main, text="Run SVM Algorithm", command=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runSVM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svmButton.place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(x=50,y=200)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svmButton.config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(font=font1)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rfButton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Button(main, text="Run Random Forest", command=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runRandomForest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rfButton.place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(x=350,y=200)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rfButton.config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(font=font1)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nbButton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Button(main, text="Run MLP Algorithm", command=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runNaiveBayes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nbButton.place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(x=650,y=200)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nbButton.config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(font=font1)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US" sz="1400" dirty="0" err="1"/>
              <a:t>graphButton</a:t>
            </a:r>
            <a:r>
              <a:rPr lang="en-US" sz="1400" dirty="0"/>
              <a:t> = Button(main, text="Comparison Graph", command=graph)</a:t>
            </a:r>
            <a:endParaRPr lang="en-IN" sz="1400" dirty="0"/>
          </a:p>
          <a:p>
            <a:r>
              <a:rPr lang="en-US" sz="1400" dirty="0" err="1"/>
              <a:t>graphButton.place</a:t>
            </a:r>
            <a:r>
              <a:rPr lang="en-US" sz="1400" dirty="0"/>
              <a:t>(x=350,y=250)</a:t>
            </a:r>
            <a:endParaRPr lang="en-IN" sz="1400" dirty="0"/>
          </a:p>
          <a:p>
            <a:r>
              <a:rPr lang="en-US" sz="1400" dirty="0" err="1"/>
              <a:t>graphButton.config</a:t>
            </a:r>
            <a:r>
              <a:rPr lang="en-US" sz="1400" dirty="0"/>
              <a:t>(font=font1)</a:t>
            </a:r>
            <a:endParaRPr lang="en-IN" sz="1400" dirty="0"/>
          </a:p>
          <a:p>
            <a:r>
              <a:rPr lang="en-US" sz="1400" dirty="0"/>
              <a:t> </a:t>
            </a:r>
            <a:endParaRPr lang="en-IN" sz="1400" dirty="0"/>
          </a:p>
          <a:p>
            <a:r>
              <a:rPr lang="en-US" sz="1400" dirty="0" err="1"/>
              <a:t>predictButton</a:t>
            </a:r>
            <a:r>
              <a:rPr lang="en-US" sz="1400" dirty="0"/>
              <a:t> = Button(main, text="Victim Detection from Test Image", command=predict)</a:t>
            </a:r>
            <a:endParaRPr lang="en-IN" sz="1400" dirty="0"/>
          </a:p>
          <a:p>
            <a:r>
              <a:rPr lang="en-US" sz="1400" dirty="0" err="1"/>
              <a:t>predictButton.place</a:t>
            </a:r>
            <a:r>
              <a:rPr lang="en-US" sz="1400" dirty="0"/>
              <a:t>(x=650,y=250)</a:t>
            </a:r>
            <a:endParaRPr lang="en-IN" sz="1400" dirty="0"/>
          </a:p>
          <a:p>
            <a:pPr algn="just">
              <a:spcBef>
                <a:spcPts val="1200"/>
              </a:spcBef>
              <a:buNone/>
            </a:pP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705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D47CD7-8CB6-506A-073E-E9EEAACE9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FD021-90B6-311F-34A4-A9A385888FD9}"/>
              </a:ext>
            </a:extLst>
          </p:cNvPr>
          <p:cNvSpPr txBox="1"/>
          <p:nvPr/>
        </p:nvSpPr>
        <p:spPr>
          <a:xfrm>
            <a:off x="1635760" y="878301"/>
            <a:ext cx="6096000" cy="5101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predictButton.config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(font=font1)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font1 = ('times', 12, 'bold')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text=Text(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main,height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=20,width=150)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scroll=Scrollbar(text)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text.configure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yscrollcommand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scroll.set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text.place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(x=10,y=300)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(font=font1)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main.config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bg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='brown')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main.mainloop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52145" marR="4395470">
              <a:lnSpc>
                <a:spcPct val="150000"/>
              </a:lnSpc>
              <a:spcBef>
                <a:spcPts val="750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705"/>
              </a:spcBef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257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C51830-6A35-6C30-D6A0-161313BD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77F9A2-0B63-DEE9-9BC4-1853C4B6A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65" y="701702"/>
            <a:ext cx="4064635" cy="2578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FAC5C5-154F-19CB-DA52-4EF1F940E5C2}"/>
              </a:ext>
            </a:extLst>
          </p:cNvPr>
          <p:cNvSpPr txBox="1"/>
          <p:nvPr/>
        </p:nvSpPr>
        <p:spPr>
          <a:xfrm>
            <a:off x="3048000" y="13403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6"/>
                </a:solidFill>
                <a:latin typeface="+mj-lt"/>
              </a:rPr>
              <a:t>SAMPLE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087B41-67EB-E08C-C67B-8A7A0EBDB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271" y="701702"/>
            <a:ext cx="4228410" cy="27201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FAEF6B-09CF-009D-BD62-59C3A17D7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65" y="3654007"/>
            <a:ext cx="4064635" cy="25276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8C560F-F617-BBC4-D335-31B2C9A36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271" y="3582623"/>
            <a:ext cx="4228410" cy="272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76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7B1A70-92CD-5A1B-A8EB-9262493E3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1D6BB5-5DB7-BCC9-D235-12BC2960A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46" y="482599"/>
            <a:ext cx="4844397" cy="27238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27D1A7-8572-EC3F-1C88-843264876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077" y="457200"/>
            <a:ext cx="4844397" cy="2749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FAD3AB-7601-E517-5CBC-EECF8B406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46" y="3351848"/>
            <a:ext cx="4844397" cy="3023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CFA926-5760-A90A-CC75-D2A7CDD1A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077" y="3429000"/>
            <a:ext cx="4889570" cy="29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72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4A5E-0969-942D-A630-9D0567C37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837653-8150-3769-1021-03CF9DBD2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65" y="457199"/>
            <a:ext cx="4952816" cy="2784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3B8B02-1D4E-0566-D121-7EF6C2031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765" y="457199"/>
            <a:ext cx="5030470" cy="28284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870130-6AAC-E497-8F79-579AF0AFA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66" y="3452738"/>
            <a:ext cx="4952816" cy="2948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F14759-72ED-8620-4530-C6591A231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764" y="3452738"/>
            <a:ext cx="5030470" cy="294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50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340" y="171684"/>
            <a:ext cx="10671048" cy="1362057"/>
          </a:xfrm>
        </p:spPr>
        <p:txBody>
          <a:bodyPr/>
          <a:lstStyle/>
          <a:p>
            <a:r>
              <a:rPr sz="3600" dirty="0"/>
              <a:t>Conclusion</a:t>
            </a:r>
            <a:r>
              <a:rPr lang="en-IN" sz="3600" dirty="0"/>
              <a:t> AND FUTURE ENHANCEMENT</a:t>
            </a:r>
            <a:endParaRPr sz="36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532F07E-898C-4244-F4FF-65DC90235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720" y="1790346"/>
            <a:ext cx="7756034" cy="327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Improved detection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Efficient feature extraction using ResNet50.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Better classification using Random Forest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Faster identification of victims under debris.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Use thermal and infrared images along with RGB for better detection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Integrate with rescue robots or drones for real-time operations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Add real-time live video detection instead of only images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171683"/>
            <a:ext cx="10671048" cy="1362057"/>
          </a:xfrm>
        </p:spPr>
        <p:txBody>
          <a:bodyPr/>
          <a:lstStyle/>
          <a:p>
            <a:r>
              <a:rPr sz="3600" dirty="0"/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99D1D-2A09-DDC2-FA7C-7CC4BCBA1AE0}"/>
              </a:ext>
            </a:extLst>
          </p:cNvPr>
          <p:cNvSpPr txBox="1"/>
          <p:nvPr/>
        </p:nvSpPr>
        <p:spPr>
          <a:xfrm>
            <a:off x="1016000" y="1921917"/>
            <a:ext cx="10525760" cy="2353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N. Lopac, F. </a:t>
            </a:r>
            <a:r>
              <a:rPr lang="en-US" sz="2000" dirty="0" err="1"/>
              <a:t>Hržic</a:t>
            </a:r>
            <a:r>
              <a:rPr lang="en-US" sz="2000" dirty="0"/>
              <a:t>, I. P. </a:t>
            </a:r>
            <a:r>
              <a:rPr lang="en-US" sz="2000" dirty="0" err="1"/>
              <a:t>Vuksanovic</a:t>
            </a:r>
            <a:r>
              <a:rPr lang="en-US" sz="2000" dirty="0"/>
              <a:t>, and J. Lerga, ‘‘Detection of non-stationary GW signals    in      high noise from Cohen’s class of </a:t>
            </a:r>
            <a:r>
              <a:rPr lang="en-US" sz="2000" dirty="0" err="1"/>
              <a:t>timefrequency</a:t>
            </a:r>
            <a:r>
              <a:rPr lang="en-US" sz="2000" dirty="0"/>
              <a:t> representations using deep learning,’’ IEEE Access, vol. 10, pp. 2408–2428, 2022. </a:t>
            </a:r>
            <a:endParaRPr lang="en-I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G. </a:t>
            </a:r>
            <a:r>
              <a:rPr lang="en-US" sz="2000" dirty="0" err="1"/>
              <a:t>Seeja</a:t>
            </a:r>
            <a:r>
              <a:rPr lang="en-US" sz="2000" dirty="0"/>
              <a:t>, A. S. A. Doss, and V. B. Hency, ‘‘A survey on snake robot locomotion,’’ IEEE Access, vol. 10, pp. 112100–112116, 2022. 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7042C-21A7-D9CF-0513-3C47C203ACC9}"/>
              </a:ext>
            </a:extLst>
          </p:cNvPr>
          <p:cNvSpPr txBox="1"/>
          <p:nvPr/>
        </p:nvSpPr>
        <p:spPr>
          <a:xfrm>
            <a:off x="1016000" y="4275895"/>
            <a:ext cx="10525760" cy="1428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N. Lopac, F. </a:t>
            </a:r>
            <a:r>
              <a:rPr lang="en-US" sz="2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Hržic</a:t>
            </a: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, I. P. </a:t>
            </a:r>
            <a:r>
              <a:rPr lang="en-US" sz="2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Vuksanovic</a:t>
            </a: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, and J. Lerga, ‘‘Detection of non-stationary GW signals in high noise from Cohen’s class of </a:t>
            </a:r>
            <a:r>
              <a:rPr lang="en-US" sz="200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timefrequency</a:t>
            </a: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representations using deep learning,’’ IEEE Access, vol. 10, pp. 2408–2428, 2022. </a:t>
            </a:r>
            <a:endParaRPr lang="en-IN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6A0990-E0F3-F290-B927-A881904D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0BA0D-ADE0-47E5-6462-FC943808A2FE}"/>
              </a:ext>
            </a:extLst>
          </p:cNvPr>
          <p:cNvSpPr txBox="1"/>
          <p:nvPr/>
        </p:nvSpPr>
        <p:spPr>
          <a:xfrm>
            <a:off x="3647440" y="13403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6"/>
                </a:solidFill>
                <a:latin typeface="+mj-lt"/>
              </a:rPr>
              <a:t>GITHUB LINK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FE91EF-09F2-0017-7B91-35BF39AEE402}"/>
              </a:ext>
            </a:extLst>
          </p:cNvPr>
          <p:cNvSpPr txBox="1"/>
          <p:nvPr/>
        </p:nvSpPr>
        <p:spPr>
          <a:xfrm>
            <a:off x="1574800" y="1442442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https://github.com/Nikitha-mandala/RTRP-project-python-Nikitha.git</a:t>
            </a:r>
          </a:p>
        </p:txBody>
      </p:sp>
    </p:spTree>
    <p:extLst>
      <p:ext uri="{BB962C8B-B14F-4D97-AF65-F5344CB8AC3E}">
        <p14:creationId xmlns:p14="http://schemas.microsoft.com/office/powerpoint/2010/main" val="1591817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White Background Thank You Slide - SlideKit">
            <a:extLst>
              <a:ext uri="{FF2B5EF4-FFF2-40B4-BE49-F238E27FC236}">
                <a16:creationId xmlns:a16="http://schemas.microsoft.com/office/drawing/2014/main" id="{C541DE0D-D6E8-5B70-B543-D767E1FCE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31010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1055</TotalTime>
  <Words>3918</Words>
  <Application>Microsoft Office PowerPoint</Application>
  <PresentationFormat>Widescreen</PresentationFormat>
  <Paragraphs>444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 Black</vt:lpstr>
      <vt:lpstr>Calibri</vt:lpstr>
      <vt:lpstr>Sabon Next LT</vt:lpstr>
      <vt:lpstr>Sitka Display Semibold</vt:lpstr>
      <vt:lpstr>Times New Roman</vt:lpstr>
      <vt:lpstr>Custom</vt:lpstr>
      <vt:lpstr>PowerPoint Presentation</vt:lpstr>
      <vt:lpstr>Table of Contents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Case Diagram</vt:lpstr>
      <vt:lpstr>Sequence Diagram</vt:lpstr>
      <vt:lpstr>CoLLABORATION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AND FUTURE ENHANCEMENT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SANKEERTH GOUD Chakravarthy Sulthanpuram</dc:creator>
  <cp:lastModifiedBy>Nikitha Mandala</cp:lastModifiedBy>
  <cp:revision>33</cp:revision>
  <dcterms:created xsi:type="dcterms:W3CDTF">2026-02-03T01:05:29Z</dcterms:created>
  <dcterms:modified xsi:type="dcterms:W3CDTF">2026-04-15T13:13:48Z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